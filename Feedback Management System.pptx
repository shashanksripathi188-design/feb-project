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Plus Jakarta Sans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21" Type="http://schemas.openxmlformats.org/officeDocument/2006/relationships/font" Target="fonts/JetBrainsMono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JetBrainsMono-boldItalic.fntdata"/><Relationship Id="rId12" Type="http://schemas.openxmlformats.org/officeDocument/2006/relationships/slide" Target="slides/slide7.xml"/><Relationship Id="rId23" Type="http://schemas.openxmlformats.org/officeDocument/2006/relationships/font" Target="fonts/JetBrains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PlusJakartaSans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12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352925"/>
            <a:ext cx="10668000" cy="1895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667250"/>
            <a:ext cx="5200650" cy="1581150"/>
          </a:xfrm>
          <a:prstGeom prst="roundRect">
            <a:avLst>
              <a:gd fmla="val 843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529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229350" y="4667250"/>
            <a:ext cx="5200650" cy="1581150"/>
          </a:xfrm>
          <a:prstGeom prst="roundRect">
            <a:avLst>
              <a:gd fmla="val 843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50" y="1572692"/>
            <a:ext cx="114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APPLICATION DEVELOPMENT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50" y="2559717"/>
            <a:ext cx="113013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MANAGEMENT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SYSTEM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242227"/>
            <a:ext cx="714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accent4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066800" y="4914900"/>
            <a:ext cx="5738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MEMBERS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66800" y="5210175"/>
            <a:ext cx="5738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2500080002</a:t>
            </a:r>
            <a:endParaRPr b="1" i="0" sz="165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2500080010</a:t>
            </a:r>
            <a:endParaRPr b="1" sz="16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2500080148</a:t>
            </a:r>
            <a:endParaRPr b="1" sz="16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534150" y="5167312"/>
            <a:ext cx="5657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534150" y="5462587"/>
            <a:ext cx="5657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&amp; Data Science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57275" y="480900"/>
            <a:ext cx="10668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FRONT END DEVELOPMENT FRAMEWORKS FOR WEB APPLICATIONS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762000" y="2341751"/>
            <a:ext cx="2524200" cy="2760600"/>
          </a:xfrm>
          <a:prstGeom prst="roundRect">
            <a:avLst>
              <a:gd fmla="val 57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476625" y="2341752"/>
            <a:ext cx="2524200" cy="2761500"/>
          </a:xfrm>
          <a:prstGeom prst="roundRect">
            <a:avLst>
              <a:gd fmla="val 57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191250" y="2341750"/>
            <a:ext cx="2524200" cy="2880300"/>
          </a:xfrm>
          <a:prstGeom prst="roundRect">
            <a:avLst>
              <a:gd fmla="val 64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905875" y="2223150"/>
            <a:ext cx="2524200" cy="2880300"/>
          </a:xfrm>
          <a:prstGeom prst="roundRect">
            <a:avLst>
              <a:gd fmla="val 57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91287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4575" y="278903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1650" y="291286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1313" y="27831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3305" y="2737848"/>
            <a:ext cx="551799" cy="47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31225" y="2725550"/>
            <a:ext cx="551800" cy="572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01641" y="2828870"/>
            <a:ext cx="45720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44026" y="2916489"/>
            <a:ext cx="551800" cy="44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62000" y="533400"/>
            <a:ext cx="11430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CHALLENGES</a:t>
            </a:r>
            <a:endParaRPr sz="1800"/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1457350"/>
            <a:ext cx="1143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 sz="1900"/>
          </a:p>
        </p:txBody>
      </p:sp>
      <p:sp>
        <p:nvSpPr>
          <p:cNvPr id="114" name="Google Shape;114;p14"/>
          <p:cNvSpPr txBox="1"/>
          <p:nvPr/>
        </p:nvSpPr>
        <p:spPr>
          <a:xfrm>
            <a:off x="1015725" y="3460451"/>
            <a:ext cx="227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Fragmented Collection</a:t>
            </a:r>
            <a:endParaRPr sz="1600"/>
          </a:p>
        </p:txBody>
      </p:sp>
      <p:sp>
        <p:nvSpPr>
          <p:cNvPr id="115" name="Google Shape;115;p14"/>
          <p:cNvSpPr txBox="1"/>
          <p:nvPr/>
        </p:nvSpPr>
        <p:spPr>
          <a:xfrm>
            <a:off x="990675" y="4074026"/>
            <a:ext cx="2162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Paper-based channels and scattered records.</a:t>
            </a:r>
            <a:endParaRPr sz="1600"/>
          </a:p>
        </p:txBody>
      </p:sp>
      <p:sp>
        <p:nvSpPr>
          <p:cNvPr id="116" name="Google Shape;116;p14"/>
          <p:cNvSpPr txBox="1"/>
          <p:nvPr/>
        </p:nvSpPr>
        <p:spPr>
          <a:xfrm>
            <a:off x="3705225" y="3531699"/>
            <a:ext cx="252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Inefficiencies</a:t>
            </a:r>
            <a:endParaRPr sz="1600"/>
          </a:p>
        </p:txBody>
      </p:sp>
      <p:sp>
        <p:nvSpPr>
          <p:cNvPr id="117" name="Google Shape;117;p14"/>
          <p:cNvSpPr txBox="1"/>
          <p:nvPr/>
        </p:nvSpPr>
        <p:spPr>
          <a:xfrm>
            <a:off x="3705225" y="4078783"/>
            <a:ext cx="21621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Time-consuming processing for large volumes.</a:t>
            </a:r>
            <a:endParaRPr sz="1600"/>
          </a:p>
        </p:txBody>
      </p:sp>
      <p:sp>
        <p:nvSpPr>
          <p:cNvPr id="118" name="Google Shape;118;p14"/>
          <p:cNvSpPr txBox="1"/>
          <p:nvPr/>
        </p:nvSpPr>
        <p:spPr>
          <a:xfrm>
            <a:off x="6419850" y="3865364"/>
            <a:ext cx="271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Tracking Path</a:t>
            </a:r>
            <a:endParaRPr sz="1700"/>
          </a:p>
        </p:txBody>
      </p:sp>
      <p:sp>
        <p:nvSpPr>
          <p:cNvPr id="119" name="Google Shape;119;p14"/>
          <p:cNvSpPr txBox="1"/>
          <p:nvPr/>
        </p:nvSpPr>
        <p:spPr>
          <a:xfrm>
            <a:off x="6419850" y="4198739"/>
            <a:ext cx="21621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lack visibility into resolution</a:t>
            </a:r>
            <a:r>
              <a:rPr b="0" i="0" lang="en-US" sz="17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7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status.</a:t>
            </a:r>
            <a:endParaRPr sz="1800"/>
          </a:p>
        </p:txBody>
      </p:sp>
      <p:sp>
        <p:nvSpPr>
          <p:cNvPr id="120" name="Google Shape;120;p14"/>
          <p:cNvSpPr txBox="1"/>
          <p:nvPr/>
        </p:nvSpPr>
        <p:spPr>
          <a:xfrm>
            <a:off x="9134475" y="3745408"/>
            <a:ext cx="271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Web-Based Solution</a:t>
            </a:r>
            <a:endParaRPr sz="1700"/>
          </a:p>
        </p:txBody>
      </p:sp>
      <p:sp>
        <p:nvSpPr>
          <p:cNvPr id="121" name="Google Shape;121;p14"/>
          <p:cNvSpPr txBox="1"/>
          <p:nvPr/>
        </p:nvSpPr>
        <p:spPr>
          <a:xfrm>
            <a:off x="9134475" y="4078783"/>
            <a:ext cx="21621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portal for streamlined management.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319088" y="3503007"/>
            <a:ext cx="5238900" cy="11661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48338" y="3503007"/>
            <a:ext cx="5238900" cy="11661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19088" y="4848447"/>
            <a:ext cx="5238900" cy="11661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48338" y="4848447"/>
            <a:ext cx="5238900" cy="11661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85788" y="3828155"/>
            <a:ext cx="438300" cy="516000"/>
          </a:xfrm>
          <a:prstGeom prst="roundRect">
            <a:avLst>
              <a:gd fmla="val 50000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15038" y="3828155"/>
            <a:ext cx="438300" cy="516000"/>
          </a:xfrm>
          <a:prstGeom prst="roundRect">
            <a:avLst>
              <a:gd fmla="val 50000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85788" y="5173595"/>
            <a:ext cx="438300" cy="516000"/>
          </a:xfrm>
          <a:prstGeom prst="roundRect">
            <a:avLst>
              <a:gd fmla="val 50000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015038" y="5173595"/>
            <a:ext cx="438300" cy="516000"/>
          </a:xfrm>
          <a:prstGeom prst="roundRect">
            <a:avLst>
              <a:gd fmla="val 50000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19088" y="761675"/>
            <a:ext cx="1143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MISSION</a:t>
            </a:r>
            <a:endParaRPr sz="2500"/>
          </a:p>
        </p:txBody>
      </p:sp>
      <p:sp>
        <p:nvSpPr>
          <p:cNvPr id="135" name="Google Shape;135;p15"/>
          <p:cNvSpPr txBox="1"/>
          <p:nvPr/>
        </p:nvSpPr>
        <p:spPr>
          <a:xfrm>
            <a:off x="442913" y="1969186"/>
            <a:ext cx="114300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Objectives</a:t>
            </a:r>
            <a:endParaRPr sz="2100"/>
          </a:p>
        </p:txBody>
      </p:sp>
      <p:sp>
        <p:nvSpPr>
          <p:cNvPr id="136" name="Google Shape;136;p15"/>
          <p:cNvSpPr txBox="1"/>
          <p:nvPr/>
        </p:nvSpPr>
        <p:spPr>
          <a:xfrm>
            <a:off x="442913" y="3828155"/>
            <a:ext cx="72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sz="2100"/>
          </a:p>
        </p:txBody>
      </p:sp>
      <p:sp>
        <p:nvSpPr>
          <p:cNvPr id="137" name="Google Shape;137;p15"/>
          <p:cNvSpPr txBox="1"/>
          <p:nvPr/>
        </p:nvSpPr>
        <p:spPr>
          <a:xfrm>
            <a:off x="5872163" y="3828155"/>
            <a:ext cx="72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sz="2100"/>
          </a:p>
        </p:txBody>
      </p:sp>
      <p:sp>
        <p:nvSpPr>
          <p:cNvPr id="138" name="Google Shape;138;p15"/>
          <p:cNvSpPr txBox="1"/>
          <p:nvPr/>
        </p:nvSpPr>
        <p:spPr>
          <a:xfrm>
            <a:off x="442913" y="5173595"/>
            <a:ext cx="72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sz="2100"/>
          </a:p>
        </p:txBody>
      </p:sp>
      <p:sp>
        <p:nvSpPr>
          <p:cNvPr id="139" name="Google Shape;139;p15"/>
          <p:cNvSpPr txBox="1"/>
          <p:nvPr/>
        </p:nvSpPr>
        <p:spPr>
          <a:xfrm>
            <a:off x="5872163" y="5173595"/>
            <a:ext cx="72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sz="2100"/>
          </a:p>
        </p:txBody>
      </p:sp>
      <p:sp>
        <p:nvSpPr>
          <p:cNvPr id="140" name="Google Shape;140;p15"/>
          <p:cNvSpPr txBox="1"/>
          <p:nvPr/>
        </p:nvSpPr>
        <p:spPr>
          <a:xfrm>
            <a:off x="1214438" y="3794519"/>
            <a:ext cx="39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Intuitive Submission</a:t>
            </a:r>
            <a:endParaRPr sz="2100"/>
          </a:p>
        </p:txBody>
      </p:sp>
      <p:sp>
        <p:nvSpPr>
          <p:cNvPr id="141" name="Google Shape;141;p15"/>
          <p:cNvSpPr txBox="1"/>
          <p:nvPr/>
        </p:nvSpPr>
        <p:spPr>
          <a:xfrm>
            <a:off x="1214438" y="4119667"/>
            <a:ext cx="3798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Frictionless form interface for all users.</a:t>
            </a:r>
            <a:endParaRPr sz="2100"/>
          </a:p>
        </p:txBody>
      </p:sp>
      <p:sp>
        <p:nvSpPr>
          <p:cNvPr id="142" name="Google Shape;142;p15"/>
          <p:cNvSpPr txBox="1"/>
          <p:nvPr/>
        </p:nvSpPr>
        <p:spPr>
          <a:xfrm>
            <a:off x="6643688" y="3794519"/>
            <a:ext cx="457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Authentication</a:t>
            </a:r>
            <a:endParaRPr sz="2100"/>
          </a:p>
        </p:txBody>
      </p:sp>
      <p:sp>
        <p:nvSpPr>
          <p:cNvPr id="143" name="Google Shape;143;p15"/>
          <p:cNvSpPr txBox="1"/>
          <p:nvPr/>
        </p:nvSpPr>
        <p:spPr>
          <a:xfrm>
            <a:off x="6643688" y="4119667"/>
            <a:ext cx="4357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user registration and login flows.</a:t>
            </a:r>
            <a:endParaRPr sz="2100"/>
          </a:p>
        </p:txBody>
      </p:sp>
      <p:sp>
        <p:nvSpPr>
          <p:cNvPr id="144" name="Google Shape;144;p15"/>
          <p:cNvSpPr txBox="1"/>
          <p:nvPr/>
        </p:nvSpPr>
        <p:spPr>
          <a:xfrm>
            <a:off x="1214438" y="5139959"/>
            <a:ext cx="386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Storage Persistence</a:t>
            </a:r>
            <a:endParaRPr sz="2100"/>
          </a:p>
        </p:txBody>
      </p:sp>
      <p:sp>
        <p:nvSpPr>
          <p:cNvPr id="145" name="Google Shape;145;p15"/>
          <p:cNvSpPr txBox="1"/>
          <p:nvPr/>
        </p:nvSpPr>
        <p:spPr>
          <a:xfrm>
            <a:off x="1214438" y="5465107"/>
            <a:ext cx="367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Reliable client-side record retention.</a:t>
            </a:r>
            <a:endParaRPr sz="2100"/>
          </a:p>
        </p:txBody>
      </p:sp>
      <p:sp>
        <p:nvSpPr>
          <p:cNvPr id="146" name="Google Shape;146;p15"/>
          <p:cNvSpPr txBox="1"/>
          <p:nvPr/>
        </p:nvSpPr>
        <p:spPr>
          <a:xfrm>
            <a:off x="6643688" y="5139959"/>
            <a:ext cx="5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Admin Suite</a:t>
            </a:r>
            <a:endParaRPr sz="2100"/>
          </a:p>
        </p:txBody>
      </p:sp>
      <p:sp>
        <p:nvSpPr>
          <p:cNvPr id="147" name="Google Shape;147;p15"/>
          <p:cNvSpPr txBox="1"/>
          <p:nvPr/>
        </p:nvSpPr>
        <p:spPr>
          <a:xfrm>
            <a:off x="6643688" y="5465107"/>
            <a:ext cx="4810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workspace to review and manage entries.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762000" y="2688387"/>
            <a:ext cx="5181600" cy="2590800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248400" y="2578850"/>
            <a:ext cx="5181600" cy="2809800"/>
          </a:xfrm>
          <a:prstGeom prst="roundRect">
            <a:avLst>
              <a:gd fmla="val 542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03128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475" y="2812025"/>
            <a:ext cx="579225" cy="57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790" y="3127877"/>
            <a:ext cx="40005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7975" y="30265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693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0457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398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750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3200" y="35837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3200" y="39361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3200" y="4398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3200" y="48600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762000" y="588125"/>
            <a:ext cx="11430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ARCHITECTURE</a:t>
            </a:r>
            <a:endParaRPr sz="1800"/>
          </a:p>
        </p:txBody>
      </p:sp>
      <p:sp>
        <p:nvSpPr>
          <p:cNvPr id="167" name="Google Shape;167;p16"/>
          <p:cNvSpPr txBox="1"/>
          <p:nvPr/>
        </p:nvSpPr>
        <p:spPr>
          <a:xfrm>
            <a:off x="488425" y="1708175"/>
            <a:ext cx="11430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Modules</a:t>
            </a:r>
            <a:endParaRPr sz="3350"/>
          </a:p>
        </p:txBody>
      </p:sp>
      <p:sp>
        <p:nvSpPr>
          <p:cNvPr id="168" name="Google Shape;168;p16"/>
          <p:cNvSpPr txBox="1"/>
          <p:nvPr/>
        </p:nvSpPr>
        <p:spPr>
          <a:xfrm>
            <a:off x="1600200" y="3088437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Module</a:t>
            </a:r>
            <a:endParaRPr sz="1700"/>
          </a:p>
        </p:txBody>
      </p:sp>
      <p:sp>
        <p:nvSpPr>
          <p:cNvPr id="169" name="Google Shape;169;p16"/>
          <p:cNvSpPr txBox="1"/>
          <p:nvPr/>
        </p:nvSpPr>
        <p:spPr>
          <a:xfrm>
            <a:off x="1314450" y="3659937"/>
            <a:ext cx="546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Authentication: Seamless signup and secure sign-in.</a:t>
            </a:r>
            <a:endParaRPr sz="1700"/>
          </a:p>
        </p:txBody>
      </p:sp>
      <p:sp>
        <p:nvSpPr>
          <p:cNvPr id="170" name="Google Shape;170;p16"/>
          <p:cNvSpPr txBox="1"/>
          <p:nvPr/>
        </p:nvSpPr>
        <p:spPr>
          <a:xfrm>
            <a:off x="1314450" y="4012362"/>
            <a:ext cx="546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Submission: Categorized feedback entry form.</a:t>
            </a:r>
            <a:endParaRPr sz="1800"/>
          </a:p>
        </p:txBody>
      </p:sp>
      <p:sp>
        <p:nvSpPr>
          <p:cNvPr id="171" name="Google Shape;171;p16"/>
          <p:cNvSpPr txBox="1"/>
          <p:nvPr/>
        </p:nvSpPr>
        <p:spPr>
          <a:xfrm>
            <a:off x="1314450" y="4364787"/>
            <a:ext cx="546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Tracking: Live status of personal submissions.</a:t>
            </a:r>
            <a:endParaRPr sz="1800"/>
          </a:p>
        </p:txBody>
      </p:sp>
      <p:sp>
        <p:nvSpPr>
          <p:cNvPr id="172" name="Google Shape;172;p16"/>
          <p:cNvSpPr txBox="1"/>
          <p:nvPr/>
        </p:nvSpPr>
        <p:spPr>
          <a:xfrm>
            <a:off x="1314450" y="4717212"/>
            <a:ext cx="546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Session: Clean state management and logout.</a:t>
            </a:r>
            <a:endParaRPr sz="1800"/>
          </a:p>
        </p:txBody>
      </p:sp>
      <p:sp>
        <p:nvSpPr>
          <p:cNvPr id="173" name="Google Shape;173;p16"/>
          <p:cNvSpPr txBox="1"/>
          <p:nvPr/>
        </p:nvSpPr>
        <p:spPr>
          <a:xfrm>
            <a:off x="7086600" y="2978900"/>
            <a:ext cx="21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 Module</a:t>
            </a:r>
            <a:endParaRPr sz="1800"/>
          </a:p>
        </p:txBody>
      </p:sp>
      <p:sp>
        <p:nvSpPr>
          <p:cNvPr id="174" name="Google Shape;174;p16"/>
          <p:cNvSpPr txBox="1"/>
          <p:nvPr/>
        </p:nvSpPr>
        <p:spPr>
          <a:xfrm>
            <a:off x="6800850" y="3550400"/>
            <a:ext cx="539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 Login: Dedicated privileged access control.</a:t>
            </a:r>
            <a:endParaRPr sz="1800"/>
          </a:p>
        </p:txBody>
      </p:sp>
      <p:sp>
        <p:nvSpPr>
          <p:cNvPr id="175" name="Google Shape;175;p16"/>
          <p:cNvSpPr txBox="1"/>
          <p:nvPr/>
        </p:nvSpPr>
        <p:spPr>
          <a:xfrm>
            <a:off x="6800850" y="3902825"/>
            <a:ext cx="5391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 Registry: Master list with delete &amp; resolve.</a:t>
            </a:r>
            <a:endParaRPr sz="1700"/>
          </a:p>
        </p:txBody>
      </p:sp>
      <p:sp>
        <p:nvSpPr>
          <p:cNvPr id="176" name="Google Shape;176;p16"/>
          <p:cNvSpPr txBox="1"/>
          <p:nvPr/>
        </p:nvSpPr>
        <p:spPr>
          <a:xfrm>
            <a:off x="6800850" y="4255250"/>
            <a:ext cx="441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Statistics: Aggregated sentiment and category counts.</a:t>
            </a:r>
            <a:endParaRPr sz="1900"/>
          </a:p>
        </p:txBody>
      </p:sp>
      <p:sp>
        <p:nvSpPr>
          <p:cNvPr id="177" name="Google Shape;177;p16"/>
          <p:cNvSpPr txBox="1"/>
          <p:nvPr/>
        </p:nvSpPr>
        <p:spPr>
          <a:xfrm>
            <a:off x="6800850" y="4826750"/>
            <a:ext cx="539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Monitoring: Real-time user response oversight.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762000" y="4395675"/>
            <a:ext cx="10668000" cy="1967100"/>
          </a:xfrm>
          <a:prstGeom prst="roundRect">
            <a:avLst>
              <a:gd fmla="val 1052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762000" y="2719387"/>
            <a:ext cx="2552700" cy="809625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467100" y="2719387"/>
            <a:ext cx="2552700" cy="809625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172200" y="2719387"/>
            <a:ext cx="2552700" cy="809625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8877300" y="2719387"/>
            <a:ext cx="2552700" cy="809625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62000" y="2719387"/>
            <a:ext cx="2552700" cy="285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3467100" y="2719387"/>
            <a:ext cx="25527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172200" y="2719387"/>
            <a:ext cx="25527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8877300" y="2719387"/>
            <a:ext cx="25527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1028700" y="5686425"/>
            <a:ext cx="990600" cy="428625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2516385" y="5686425"/>
            <a:ext cx="923925" cy="428625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937396" y="5686425"/>
            <a:ext cx="1333500" cy="428625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5767982" y="5686425"/>
            <a:ext cx="1466850" cy="428625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7731918" y="5686425"/>
            <a:ext cx="1514475" cy="428625"/>
          </a:xfrm>
          <a:prstGeom prst="roundRect">
            <a:avLst>
              <a:gd fmla="val 1777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9743479" y="5686425"/>
            <a:ext cx="1419225" cy="428625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692" y="58340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1703" y="58340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2289" y="58340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6225" y="583406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7786" y="5834062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762000" y="495300"/>
            <a:ext cx="11430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IMPLEMENTATION</a:t>
            </a:r>
            <a:endParaRPr sz="2100"/>
          </a:p>
        </p:txBody>
      </p:sp>
      <p:sp>
        <p:nvSpPr>
          <p:cNvPr id="203" name="Google Shape;203;p17"/>
          <p:cNvSpPr txBox="1"/>
          <p:nvPr/>
        </p:nvSpPr>
        <p:spPr>
          <a:xfrm>
            <a:off x="786400" y="1495738"/>
            <a:ext cx="114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Technologies &amp; System Flow</a:t>
            </a:r>
            <a:endParaRPr sz="1900"/>
          </a:p>
        </p:txBody>
      </p:sp>
      <p:sp>
        <p:nvSpPr>
          <p:cNvPr id="204" name="Google Shape;204;p17"/>
          <p:cNvSpPr txBox="1"/>
          <p:nvPr/>
        </p:nvSpPr>
        <p:spPr>
          <a:xfrm>
            <a:off x="895350" y="4814575"/>
            <a:ext cx="11163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SYSTEM PIPELINE</a:t>
            </a:r>
            <a:endParaRPr sz="2100"/>
          </a:p>
        </p:txBody>
      </p:sp>
      <p:sp>
        <p:nvSpPr>
          <p:cNvPr id="205" name="Google Shape;205;p17"/>
          <p:cNvSpPr txBox="1"/>
          <p:nvPr/>
        </p:nvSpPr>
        <p:spPr>
          <a:xfrm>
            <a:off x="952500" y="2919412"/>
            <a:ext cx="2714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HTML5</a:t>
            </a:r>
            <a:endParaRPr sz="1900"/>
          </a:p>
        </p:txBody>
      </p:sp>
      <p:sp>
        <p:nvSpPr>
          <p:cNvPr id="206" name="Google Shape;206;p17"/>
          <p:cNvSpPr txBox="1"/>
          <p:nvPr/>
        </p:nvSpPr>
        <p:spPr>
          <a:xfrm>
            <a:off x="952500" y="3138487"/>
            <a:ext cx="2714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Structure</a:t>
            </a:r>
            <a:endParaRPr sz="2000"/>
          </a:p>
        </p:txBody>
      </p:sp>
      <p:sp>
        <p:nvSpPr>
          <p:cNvPr id="207" name="Google Shape;207;p17"/>
          <p:cNvSpPr txBox="1"/>
          <p:nvPr/>
        </p:nvSpPr>
        <p:spPr>
          <a:xfrm>
            <a:off x="3657600" y="2919412"/>
            <a:ext cx="2714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CSS3</a:t>
            </a:r>
            <a:endParaRPr sz="2000"/>
          </a:p>
        </p:txBody>
      </p:sp>
      <p:sp>
        <p:nvSpPr>
          <p:cNvPr id="208" name="Google Shape;208;p17"/>
          <p:cNvSpPr txBox="1"/>
          <p:nvPr/>
        </p:nvSpPr>
        <p:spPr>
          <a:xfrm>
            <a:off x="3386100" y="3157037"/>
            <a:ext cx="2714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Flexbox &amp; Grid</a:t>
            </a:r>
            <a:endParaRPr sz="1900"/>
          </a:p>
        </p:txBody>
      </p:sp>
      <p:sp>
        <p:nvSpPr>
          <p:cNvPr id="209" name="Google Shape;209;p17"/>
          <p:cNvSpPr txBox="1"/>
          <p:nvPr/>
        </p:nvSpPr>
        <p:spPr>
          <a:xfrm>
            <a:off x="6362700" y="2919412"/>
            <a:ext cx="27147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JavaScript</a:t>
            </a:r>
            <a:endParaRPr sz="2000"/>
          </a:p>
        </p:txBody>
      </p:sp>
      <p:sp>
        <p:nvSpPr>
          <p:cNvPr id="210" name="Google Shape;210;p17"/>
          <p:cNvSpPr txBox="1"/>
          <p:nvPr/>
        </p:nvSpPr>
        <p:spPr>
          <a:xfrm>
            <a:off x="6131688" y="3195424"/>
            <a:ext cx="271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 &amp; Validation</a:t>
            </a:r>
            <a:endParaRPr sz="1700"/>
          </a:p>
        </p:txBody>
      </p:sp>
      <p:sp>
        <p:nvSpPr>
          <p:cNvPr id="211" name="Google Shape;211;p17"/>
          <p:cNvSpPr txBox="1"/>
          <p:nvPr/>
        </p:nvSpPr>
        <p:spPr>
          <a:xfrm>
            <a:off x="9067800" y="2919412"/>
            <a:ext cx="27147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5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Storage</a:t>
            </a:r>
            <a:endParaRPr sz="1800"/>
          </a:p>
        </p:txBody>
      </p:sp>
      <p:sp>
        <p:nvSpPr>
          <p:cNvPr id="212" name="Google Shape;212;p17"/>
          <p:cNvSpPr txBox="1"/>
          <p:nvPr/>
        </p:nvSpPr>
        <p:spPr>
          <a:xfrm>
            <a:off x="9067800" y="3138487"/>
            <a:ext cx="2714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 Persistence</a:t>
            </a:r>
            <a:endParaRPr sz="1800"/>
          </a:p>
        </p:txBody>
      </p:sp>
      <p:sp>
        <p:nvSpPr>
          <p:cNvPr id="213" name="Google Shape;213;p17"/>
          <p:cNvSpPr txBox="1"/>
          <p:nvPr/>
        </p:nvSpPr>
        <p:spPr>
          <a:xfrm>
            <a:off x="1057275" y="5800725"/>
            <a:ext cx="93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Signup</a:t>
            </a:r>
            <a:endParaRPr sz="1700"/>
          </a:p>
        </p:txBody>
      </p:sp>
      <p:sp>
        <p:nvSpPr>
          <p:cNvPr id="214" name="Google Shape;214;p17"/>
          <p:cNvSpPr txBox="1"/>
          <p:nvPr/>
        </p:nvSpPr>
        <p:spPr>
          <a:xfrm>
            <a:off x="2544960" y="5800725"/>
            <a:ext cx="86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Login</a:t>
            </a:r>
            <a:endParaRPr sz="1600"/>
          </a:p>
        </p:txBody>
      </p:sp>
      <p:sp>
        <p:nvSpPr>
          <p:cNvPr id="215" name="Google Shape;215;p17"/>
          <p:cNvSpPr txBox="1"/>
          <p:nvPr/>
        </p:nvSpPr>
        <p:spPr>
          <a:xfrm>
            <a:off x="3965971" y="5800725"/>
            <a:ext cx="127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Dashboard</a:t>
            </a:r>
            <a:endParaRPr sz="1700"/>
          </a:p>
        </p:txBody>
      </p:sp>
      <p:sp>
        <p:nvSpPr>
          <p:cNvPr id="216" name="Google Shape;216;p17"/>
          <p:cNvSpPr txBox="1"/>
          <p:nvPr/>
        </p:nvSpPr>
        <p:spPr>
          <a:xfrm>
            <a:off x="5796557" y="5800725"/>
            <a:ext cx="14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Submit Form</a:t>
            </a:r>
            <a:endParaRPr sz="1700"/>
          </a:p>
        </p:txBody>
      </p:sp>
      <p:sp>
        <p:nvSpPr>
          <p:cNvPr id="217" name="Google Shape;217;p17"/>
          <p:cNvSpPr txBox="1"/>
          <p:nvPr/>
        </p:nvSpPr>
        <p:spPr>
          <a:xfrm>
            <a:off x="7756921" y="5800725"/>
            <a:ext cx="146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LocalStorage</a:t>
            </a:r>
            <a:endParaRPr sz="1600"/>
          </a:p>
        </p:txBody>
      </p:sp>
      <p:sp>
        <p:nvSpPr>
          <p:cNvPr id="218" name="Google Shape;218;p17"/>
          <p:cNvSpPr txBox="1"/>
          <p:nvPr/>
        </p:nvSpPr>
        <p:spPr>
          <a:xfrm>
            <a:off x="9772054" y="5800725"/>
            <a:ext cx="136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Admin Panel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762000" y="2800350"/>
            <a:ext cx="5576441" cy="2257425"/>
          </a:xfrm>
          <a:prstGeom prst="roundRect">
            <a:avLst>
              <a:gd fmla="val 67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681341" y="2447925"/>
            <a:ext cx="4748658" cy="2962275"/>
          </a:xfrm>
          <a:prstGeom prst="roundRect">
            <a:avLst>
              <a:gd fmla="val 51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986141" y="3181350"/>
            <a:ext cx="4139058" cy="409575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986141" y="3686175"/>
            <a:ext cx="4139058" cy="409575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6986141" y="4191000"/>
            <a:ext cx="4139058" cy="409575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7138541" y="4678125"/>
            <a:ext cx="4139100" cy="409500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5671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9004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2338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5672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 txBox="1"/>
          <p:nvPr/>
        </p:nvSpPr>
        <p:spPr>
          <a:xfrm>
            <a:off x="762000" y="533400"/>
            <a:ext cx="1143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CAPABILITIES</a:t>
            </a:r>
            <a:endParaRPr sz="2000"/>
          </a:p>
        </p:txBody>
      </p:sp>
      <p:sp>
        <p:nvSpPr>
          <p:cNvPr id="234" name="Google Shape;234;p18"/>
          <p:cNvSpPr txBox="1"/>
          <p:nvPr/>
        </p:nvSpPr>
        <p:spPr>
          <a:xfrm>
            <a:off x="594725" y="1760588"/>
            <a:ext cx="11430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Features &amp; Application Views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1066800" y="3105150"/>
            <a:ext cx="651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Features</a:t>
            </a:r>
            <a:endParaRPr sz="1800"/>
          </a:p>
        </p:txBody>
      </p:sp>
      <p:sp>
        <p:nvSpPr>
          <p:cNvPr id="236" name="Google Shape;236;p18"/>
          <p:cNvSpPr txBox="1"/>
          <p:nvPr/>
        </p:nvSpPr>
        <p:spPr>
          <a:xfrm>
            <a:off x="6986141" y="2752725"/>
            <a:ext cx="520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Pages</a:t>
            </a:r>
            <a:endParaRPr sz="1800"/>
          </a:p>
        </p:txBody>
      </p:sp>
      <p:sp>
        <p:nvSpPr>
          <p:cNvPr id="237" name="Google Shape;237;p18"/>
          <p:cNvSpPr txBox="1"/>
          <p:nvPr/>
        </p:nvSpPr>
        <p:spPr>
          <a:xfrm>
            <a:off x="1314450" y="3533775"/>
            <a:ext cx="596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Authentication: Real-time form verification.</a:t>
            </a:r>
            <a:endParaRPr sz="1700"/>
          </a:p>
        </p:txBody>
      </p:sp>
      <p:sp>
        <p:nvSpPr>
          <p:cNvPr id="238" name="Google Shape;238;p18"/>
          <p:cNvSpPr txBox="1"/>
          <p:nvPr/>
        </p:nvSpPr>
        <p:spPr>
          <a:xfrm>
            <a:off x="1314450" y="3867150"/>
            <a:ext cx="59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Submission: Flexible rating and category fields.</a:t>
            </a:r>
            <a:endParaRPr sz="1800"/>
          </a:p>
        </p:txBody>
      </p:sp>
      <p:sp>
        <p:nvSpPr>
          <p:cNvPr id="239" name="Google Shape;239;p18"/>
          <p:cNvSpPr txBox="1"/>
          <p:nvPr/>
        </p:nvSpPr>
        <p:spPr>
          <a:xfrm>
            <a:off x="1314450" y="4200525"/>
            <a:ext cx="59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Persistence: JSON-based browser data sync.</a:t>
            </a:r>
            <a:endParaRPr sz="1800"/>
          </a:p>
        </p:txBody>
      </p:sp>
      <p:sp>
        <p:nvSpPr>
          <p:cNvPr id="240" name="Google Shape;240;p18"/>
          <p:cNvSpPr txBox="1"/>
          <p:nvPr/>
        </p:nvSpPr>
        <p:spPr>
          <a:xfrm>
            <a:off x="1314450" y="4533900"/>
            <a:ext cx="596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Responsiveness: Adaptive mobile and desktop layout.</a:t>
            </a:r>
            <a:endParaRPr sz="1700"/>
          </a:p>
        </p:txBody>
      </p:sp>
      <p:sp>
        <p:nvSpPr>
          <p:cNvPr id="241" name="Google Shape;241;p18"/>
          <p:cNvSpPr txBox="1"/>
          <p:nvPr/>
        </p:nvSpPr>
        <p:spPr>
          <a:xfrm>
            <a:off x="7138541" y="3276600"/>
            <a:ext cx="170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Home &amp; Landing</a:t>
            </a:r>
            <a:endParaRPr sz="1700"/>
          </a:p>
        </p:txBody>
      </p:sp>
      <p:sp>
        <p:nvSpPr>
          <p:cNvPr id="242" name="Google Shape;242;p18"/>
          <p:cNvSpPr txBox="1"/>
          <p:nvPr/>
        </p:nvSpPr>
        <p:spPr>
          <a:xfrm>
            <a:off x="9958700" y="3276600"/>
            <a:ext cx="129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index.html</a:t>
            </a:r>
            <a:endParaRPr sz="1800"/>
          </a:p>
        </p:txBody>
      </p:sp>
      <p:sp>
        <p:nvSpPr>
          <p:cNvPr id="243" name="Google Shape;243;p18"/>
          <p:cNvSpPr txBox="1"/>
          <p:nvPr/>
        </p:nvSpPr>
        <p:spPr>
          <a:xfrm>
            <a:off x="7138541" y="3781425"/>
            <a:ext cx="1559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Signup &amp; Login</a:t>
            </a:r>
            <a:endParaRPr sz="1600"/>
          </a:p>
        </p:txBody>
      </p:sp>
      <p:sp>
        <p:nvSpPr>
          <p:cNvPr id="244" name="Google Shape;244;p18"/>
          <p:cNvSpPr txBox="1"/>
          <p:nvPr/>
        </p:nvSpPr>
        <p:spPr>
          <a:xfrm>
            <a:off x="9958700" y="3781425"/>
            <a:ext cx="1109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auth.html</a:t>
            </a:r>
            <a:endParaRPr sz="1800"/>
          </a:p>
        </p:txBody>
      </p:sp>
      <p:sp>
        <p:nvSpPr>
          <p:cNvPr id="245" name="Google Shape;245;p18"/>
          <p:cNvSpPr txBox="1"/>
          <p:nvPr/>
        </p:nvSpPr>
        <p:spPr>
          <a:xfrm>
            <a:off x="7138541" y="4286250"/>
            <a:ext cx="165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Dashboard</a:t>
            </a:r>
            <a:endParaRPr sz="1600"/>
          </a:p>
        </p:txBody>
      </p:sp>
      <p:sp>
        <p:nvSpPr>
          <p:cNvPr id="246" name="Google Shape;246;p18"/>
          <p:cNvSpPr txBox="1"/>
          <p:nvPr/>
        </p:nvSpPr>
        <p:spPr>
          <a:xfrm>
            <a:off x="10039125" y="4291838"/>
            <a:ext cx="12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user.html</a:t>
            </a:r>
            <a:endParaRPr sz="1700"/>
          </a:p>
        </p:txBody>
      </p:sp>
      <p:sp>
        <p:nvSpPr>
          <p:cNvPr id="247" name="Google Shape;247;p18"/>
          <p:cNvSpPr txBox="1"/>
          <p:nvPr/>
        </p:nvSpPr>
        <p:spPr>
          <a:xfrm>
            <a:off x="7138541" y="4791075"/>
            <a:ext cx="188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 Workspace</a:t>
            </a:r>
            <a:endParaRPr sz="1600"/>
          </a:p>
        </p:txBody>
      </p:sp>
      <p:sp>
        <p:nvSpPr>
          <p:cNvPr id="248" name="Google Shape;248;p18"/>
          <p:cNvSpPr txBox="1"/>
          <p:nvPr/>
        </p:nvSpPr>
        <p:spPr>
          <a:xfrm>
            <a:off x="9958800" y="4791075"/>
            <a:ext cx="1109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admin.html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7CE88"/>
            </a:gs>
            <a:gs pos="100000">
              <a:srgbClr val="778F45"/>
            </a:gs>
          </a:gsLst>
          <a:lin ang="5400012" scaled="0"/>
        </a:gra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/>
          <p:nvPr/>
        </p:nvSpPr>
        <p:spPr>
          <a:xfrm>
            <a:off x="762000" y="2786062"/>
            <a:ext cx="5181600" cy="2286000"/>
          </a:xfrm>
          <a:prstGeom prst="roundRect">
            <a:avLst>
              <a:gd fmla="val 666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130325" y="2628900"/>
            <a:ext cx="4667400" cy="2605800"/>
          </a:xfrm>
          <a:prstGeom prst="roundRect">
            <a:avLst>
              <a:gd fmla="val 586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553200" y="3429000"/>
            <a:ext cx="2009775" cy="409575"/>
          </a:xfrm>
          <a:prstGeom prst="roundRect">
            <a:avLst>
              <a:gd fmla="val 18604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8677275" y="3429000"/>
            <a:ext cx="1228725" cy="409575"/>
          </a:xfrm>
          <a:prstGeom prst="roundRect">
            <a:avLst>
              <a:gd fmla="val 18604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553200" y="3952875"/>
            <a:ext cx="1819275" cy="409575"/>
          </a:xfrm>
          <a:prstGeom prst="roundRect">
            <a:avLst>
              <a:gd fmla="val 18604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8486775" y="3952875"/>
            <a:ext cx="1838325" cy="409575"/>
          </a:xfrm>
          <a:prstGeom prst="roundRect">
            <a:avLst>
              <a:gd fmla="val 18604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6553200" y="4476750"/>
            <a:ext cx="1228725" cy="409575"/>
          </a:xfrm>
          <a:prstGeom prst="roundRect">
            <a:avLst>
              <a:gd fmla="val 18604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15753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30003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762000" y="533400"/>
            <a:ext cx="11430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SUMMARY</a:t>
            </a:r>
            <a:endParaRPr sz="2100"/>
          </a:p>
        </p:txBody>
      </p:sp>
      <p:sp>
        <p:nvSpPr>
          <p:cNvPr id="263" name="Google Shape;263;p19"/>
          <p:cNvSpPr txBox="1"/>
          <p:nvPr/>
        </p:nvSpPr>
        <p:spPr>
          <a:xfrm>
            <a:off x="762000" y="1503050"/>
            <a:ext cx="1143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 &amp; Future Scope</a:t>
            </a:r>
            <a:endParaRPr sz="1700"/>
          </a:p>
        </p:txBody>
      </p:sp>
      <p:sp>
        <p:nvSpPr>
          <p:cNvPr id="264" name="Google Shape;264;p19"/>
          <p:cNvSpPr txBox="1"/>
          <p:nvPr/>
        </p:nvSpPr>
        <p:spPr>
          <a:xfrm>
            <a:off x="1390650" y="3128962"/>
            <a:ext cx="241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Outcomes</a:t>
            </a:r>
            <a:endParaRPr sz="1800"/>
          </a:p>
        </p:txBody>
      </p:sp>
      <p:sp>
        <p:nvSpPr>
          <p:cNvPr id="265" name="Google Shape;265;p19"/>
          <p:cNvSpPr txBox="1"/>
          <p:nvPr/>
        </p:nvSpPr>
        <p:spPr>
          <a:xfrm>
            <a:off x="1066800" y="3586162"/>
            <a:ext cx="57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Portal: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Replaces manual paperwork.</a:t>
            </a:r>
            <a:endParaRPr sz="1700"/>
          </a:p>
        </p:txBody>
      </p:sp>
      <p:sp>
        <p:nvSpPr>
          <p:cNvPr id="266" name="Google Shape;266;p19"/>
          <p:cNvSpPr txBox="1"/>
          <p:nvPr/>
        </p:nvSpPr>
        <p:spPr>
          <a:xfrm>
            <a:off x="1066800" y="3938587"/>
            <a:ext cx="5715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Proficiency:</a:t>
            </a:r>
            <a:r>
              <a:rPr b="0" i="0" lang="en-US" sz="14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Validates HTML, CSS &amp; vanilla JS skills.</a:t>
            </a:r>
            <a:endParaRPr sz="1500"/>
          </a:p>
        </p:txBody>
      </p:sp>
      <p:sp>
        <p:nvSpPr>
          <p:cNvPr id="267" name="Google Shape;267;p19"/>
          <p:cNvSpPr txBox="1"/>
          <p:nvPr/>
        </p:nvSpPr>
        <p:spPr>
          <a:xfrm>
            <a:off x="1066800" y="4291012"/>
            <a:ext cx="466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Dependencies: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Lightweight local storage persistence.</a:t>
            </a:r>
            <a:endParaRPr sz="1700"/>
          </a:p>
        </p:txBody>
      </p:sp>
      <p:sp>
        <p:nvSpPr>
          <p:cNvPr id="268" name="Google Shape;268;p19"/>
          <p:cNvSpPr txBox="1"/>
          <p:nvPr/>
        </p:nvSpPr>
        <p:spPr>
          <a:xfrm>
            <a:off x="6877050" y="2971800"/>
            <a:ext cx="2212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Roadmap</a:t>
            </a:r>
            <a:endParaRPr sz="1700"/>
          </a:p>
        </p:txBody>
      </p:sp>
      <p:sp>
        <p:nvSpPr>
          <p:cNvPr id="269" name="Google Shape;269;p19"/>
          <p:cNvSpPr txBox="1"/>
          <p:nvPr/>
        </p:nvSpPr>
        <p:spPr>
          <a:xfrm>
            <a:off x="6638975" y="3488725"/>
            <a:ext cx="2298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Integration</a:t>
            </a:r>
            <a:endParaRPr sz="1500"/>
          </a:p>
        </p:txBody>
      </p:sp>
      <p:sp>
        <p:nvSpPr>
          <p:cNvPr id="270" name="Google Shape;270;p19"/>
          <p:cNvSpPr txBox="1"/>
          <p:nvPr/>
        </p:nvSpPr>
        <p:spPr>
          <a:xfrm>
            <a:off x="8791538" y="3540863"/>
            <a:ext cx="122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 Alerts</a:t>
            </a:r>
            <a:endParaRPr sz="1600"/>
          </a:p>
        </p:txBody>
      </p:sp>
      <p:sp>
        <p:nvSpPr>
          <p:cNvPr id="271" name="Google Shape;271;p19"/>
          <p:cNvSpPr txBox="1"/>
          <p:nvPr/>
        </p:nvSpPr>
        <p:spPr>
          <a:xfrm>
            <a:off x="6705600" y="4048125"/>
            <a:ext cx="166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Sentiment Analysis</a:t>
            </a:r>
            <a:endParaRPr sz="1500"/>
          </a:p>
        </p:txBody>
      </p:sp>
      <p:sp>
        <p:nvSpPr>
          <p:cNvPr id="272" name="Google Shape;272;p19"/>
          <p:cNvSpPr txBox="1"/>
          <p:nvPr/>
        </p:nvSpPr>
        <p:spPr>
          <a:xfrm>
            <a:off x="8562975" y="4048125"/>
            <a:ext cx="208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Deployment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6638975" y="4603400"/>
            <a:ext cx="1447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 App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